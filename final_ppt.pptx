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1" r:id="rId2"/>
    <p:sldId id="285" r:id="rId3"/>
    <p:sldId id="264" r:id="rId4"/>
    <p:sldId id="282" r:id="rId5"/>
    <p:sldId id="283" r:id="rId6"/>
    <p:sldId id="266" r:id="rId7"/>
    <p:sldId id="274" r:id="rId8"/>
    <p:sldId id="267" r:id="rId9"/>
    <p:sldId id="275" r:id="rId10"/>
    <p:sldId id="271" r:id="rId11"/>
    <p:sldId id="284" r:id="rId12"/>
    <p:sldId id="268" r:id="rId13"/>
    <p:sldId id="269" r:id="rId14"/>
    <p:sldId id="278" r:id="rId15"/>
    <p:sldId id="279" r:id="rId16"/>
    <p:sldId id="287" r:id="rId17"/>
    <p:sldId id="280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1B3B7-E909-42B0-8817-1E7CFE789BB7}" v="12" dt="2026-03-26T05:40:59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B3E1D-A170-46B7-8C6E-9E428C8A4F32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34C87-9787-4BEF-9C38-FA0C43B89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26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8105-F3EB-1125-5AFC-E82580D49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BBBDC-CE96-E247-5AEC-7B9B51843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BEADA-7DD4-CCE4-2C0C-57BA1A64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62D7A-887D-7DD1-0B18-41321510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309B-995E-0D57-D046-CAC53F7A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15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8B51-EE28-ACAB-CDDC-850DBEBA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9964A-FEBB-2281-4848-87DEB5195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BBB0-5ADD-5017-AE22-C6485CF6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DE880-D132-AD10-2B60-E4B26422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86152-9DA7-692B-C487-E80BCA31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88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BA7D-EFF0-D742-0E59-8681D52E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F15CD-24E7-54FC-F930-DDB11A3C0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4D7B1-4112-09F2-B651-630620B8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0BCF5-F972-4F9E-1309-ADE60796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28611-332E-CF7B-CB09-AA379B09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5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8B9C8-08F2-587F-0A1F-65695F57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8EFD-4A52-F66F-10C9-6E7C4814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50656-1FB0-F301-9655-75F2C45F7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30DC6-048C-7FE8-5843-C30EBFAC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43F20-5770-A736-CF23-4216FEEC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884A5-4C66-2752-8E2C-CD0702DD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8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BFC5-87DD-DF6F-9FDF-94C794A3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B7465-78A8-476F-6E08-B3DDA7389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56AE4-EBA5-B734-9E32-A322BC6B4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EB4C8-3BE1-63B6-2215-571C513EF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A11427-6E70-B87A-67ED-7A9F3465F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BD186-50EB-E5CB-2CEB-5578CA43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D13FF-5127-BADE-7FC1-D2781AEA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DB673-B1EF-515D-1D18-76BA3DC7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13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1D5E-85EA-7FEA-AE84-B235A3F0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A2BA1-69DC-F964-F539-1E5B30D1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0EEA7-63F9-D291-622B-EF6F3FD7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6CA26-D96C-000F-73B6-8C2C3F01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8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3045AA-6890-BB9B-4707-09EDF7A3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51BA6-E9AA-B420-C395-7B02C272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024C9-3EE3-D964-0AA0-91A58379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49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E680-FD43-932F-D8A9-8D14EEFC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4E98-1B81-719E-DEF7-657FF4DD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63D5C-35C2-80C0-653B-26BD2FB34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871DD-6DEF-9922-35F0-FC3BA14D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F6832-612D-35EB-9E49-3B2039FA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42338-57D7-E342-0D77-D296BF0E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0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6AD62-DCF1-4314-388D-588C639C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661F7-C51C-BFF5-2310-D774F7477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D6557-26AE-BB6F-B1A6-FE2CE5D07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1C34D-F0EE-4005-9192-04C64183B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90C64-40A7-705A-A3D6-925BA511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27F0E-0299-B282-F940-E7E4B193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44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891F-67B1-7E27-FDA0-404969639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5D59D-18AB-63C8-2498-39110BAC6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5AF6C-3143-EF2E-EBFA-0DE7DA11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84491-FB4B-EA1C-1B33-B3766CDB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E7AB-7E99-FFDA-9D20-60C4C255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43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4303E8-7C66-9A98-D208-7AC8735CB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19BF9-E3A2-FDE1-A787-D97FCE5EB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F099A-CA13-BC43-7FC4-13D90EE5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4B53F-502A-559A-CA82-78DC531C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F2E7D-1B6B-F1CA-B891-2DCEF6B9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5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C8DEC-86AC-0BE2-7BD1-A76CD2EC8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56A7C-CDF4-99B0-C971-B7E8497C4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BFC96-2563-EAE5-5B9E-4DC1DF4E8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3E42F-4499-44B2-BE28-4DAF3E48DDEA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40BA1-236E-6C83-12E2-398120B21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E898-2EC2-E641-29E7-DEA42D1D7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6D149-4A57-410C-8E40-107C02D43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87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jpe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jp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jpe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jp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ec.paavai.edu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ubtitle 2"/>
          <p:cNvSpPr>
            <a:spLocks noGrp="1"/>
          </p:cNvSpPr>
          <p:nvPr>
            <p:ph type="subTitle" idx="1"/>
          </p:nvPr>
        </p:nvSpPr>
        <p:spPr>
          <a:xfrm>
            <a:off x="2505540" y="2038501"/>
            <a:ext cx="8003822" cy="3898309"/>
          </a:xfrm>
        </p:spPr>
        <p:txBody>
          <a:bodyPr>
            <a:normAutofit/>
          </a:bodyPr>
          <a:lstStyle/>
          <a:p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heating and cooling IoT based smart sipper</a:t>
            </a:r>
          </a:p>
          <a:p>
            <a:pPr lvl="7"/>
            <a:endParaRPr lang="en-US" sz="32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  <a:p>
            <a:pPr lvl="7" algn="l"/>
            <a:endParaRPr lang="en-US" sz="32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  <a:p>
            <a:pPr lvl="7" algn="l"/>
            <a:endParaRPr lang="en-US" sz="32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  <a:p>
            <a:pPr lvl="7" algn="l"/>
            <a:endParaRPr lang="en-US" sz="6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  <a:p>
            <a:pPr lvl="8" algn="l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endParaRPr lang="en-US" b="1" dirty="0">
              <a:solidFill>
                <a:srgbClr val="002060"/>
              </a:solidFill>
              <a:latin typeface="Trebuchet MS" panose="020B0603020202020204" pitchFamily="34" charset="0"/>
            </a:endParaRPr>
          </a:p>
          <a:p>
            <a:pPr lvl="7" algn="l"/>
            <a:endParaRPr lang="en-US" sz="20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sp>
        <p:nvSpPr>
          <p:cNvPr id="1048628" name="Rectangle 1"/>
          <p:cNvSpPr>
            <a:spLocks noChangeArrowheads="1"/>
          </p:cNvSpPr>
          <p:nvPr/>
        </p:nvSpPr>
        <p:spPr bwMode="auto">
          <a:xfrm rot="10800000" flipV="1">
            <a:off x="1952446" y="496080"/>
            <a:ext cx="7093229" cy="892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1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1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94" name="Picture 2" descr="Paavai Engineering College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342" y="401552"/>
            <a:ext cx="1218142" cy="1159491"/>
          </a:xfrm>
          <a:prstGeom prst="rect">
            <a:avLst/>
          </a:prstGeom>
          <a:noFill/>
        </p:spPr>
      </p:pic>
      <p:pic>
        <p:nvPicPr>
          <p:cNvPr id="2097195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438150"/>
          </a:xfrm>
          <a:prstGeom prst="rect">
            <a:avLst/>
          </a:prstGeom>
        </p:spPr>
      </p:pic>
      <p:pic>
        <p:nvPicPr>
          <p:cNvPr id="2097197" name="Picture 8"/>
          <p:cNvPicPr>
            <a:picLocks noChangeAspect="1"/>
          </p:cNvPicPr>
          <p:nvPr/>
        </p:nvPicPr>
        <p:blipFill rotWithShape="1">
          <a:blip r:embed="rId5"/>
          <a:srcRect l="43153"/>
          <a:stretch>
            <a:fillRect/>
          </a:stretch>
        </p:blipFill>
        <p:spPr>
          <a:xfrm>
            <a:off x="0" y="3482981"/>
            <a:ext cx="4692439" cy="3066042"/>
          </a:xfrm>
          <a:prstGeom prst="rect">
            <a:avLst/>
          </a:prstGeom>
        </p:spPr>
      </p:pic>
      <p:pic>
        <p:nvPicPr>
          <p:cNvPr id="2097196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78542"/>
            <a:ext cx="12192000" cy="637617"/>
          </a:xfrm>
          <a:prstGeom prst="rect">
            <a:avLst/>
          </a:prstGeom>
        </p:spPr>
      </p:pic>
      <p:pic>
        <p:nvPicPr>
          <p:cNvPr id="2097198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56632"/>
            <a:ext cx="12192000" cy="256188"/>
          </a:xfrm>
          <a:prstGeom prst="rect">
            <a:avLst/>
          </a:prstGeom>
        </p:spPr>
      </p:pic>
      <p:sp>
        <p:nvSpPr>
          <p:cNvPr id="1048629" name="TextBox 1"/>
          <p:cNvSpPr txBox="1"/>
          <p:nvPr/>
        </p:nvSpPr>
        <p:spPr>
          <a:xfrm>
            <a:off x="235974" y="1689969"/>
            <a:ext cx="11720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</a:p>
        </p:txBody>
      </p:sp>
      <p:grpSp>
        <p:nvGrpSpPr>
          <p:cNvPr id="97" name="Group 18"/>
          <p:cNvGrpSpPr/>
          <p:nvPr/>
        </p:nvGrpSpPr>
        <p:grpSpPr>
          <a:xfrm>
            <a:off x="9238637" y="392196"/>
            <a:ext cx="2717388" cy="1091391"/>
            <a:chOff x="8828617" y="457004"/>
            <a:chExt cx="2717388" cy="1091391"/>
          </a:xfrm>
        </p:grpSpPr>
        <p:pic>
          <p:nvPicPr>
            <p:cNvPr id="2097199" name="Picture 5"/>
            <p:cNvPicPr>
              <a:picLocks noChangeAspect="1" noChangeArrowheads="1"/>
            </p:cNvPicPr>
            <p:nvPr/>
          </p:nvPicPr>
          <p:blipFill>
            <a:blip r:embed="rId7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0" name="Picture 5"/>
            <p:cNvPicPr>
              <a:picLocks noChangeAspect="1" noChangeArrowheads="1"/>
            </p:cNvPicPr>
            <p:nvPr/>
          </p:nvPicPr>
          <p:blipFill>
            <a:blip r:embed="rId7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00DF3EE-01FB-F467-E9E5-67502513E4DB}"/>
              </a:ext>
            </a:extLst>
          </p:cNvPr>
          <p:cNvSpPr txBox="1"/>
          <p:nvPr/>
        </p:nvSpPr>
        <p:spPr>
          <a:xfrm>
            <a:off x="4913666" y="4641842"/>
            <a:ext cx="3881285" cy="22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.M. Mangaiyarkarasi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(Internet of Things)</a:t>
            </a:r>
          </a:p>
          <a:p>
            <a:pPr>
              <a:lnSpc>
                <a:spcPct val="150000"/>
              </a:lnSpc>
            </a:pP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45AE5-0A39-10C8-4C79-14733274F7B2}"/>
              </a:ext>
            </a:extLst>
          </p:cNvPr>
          <p:cNvSpPr txBox="1"/>
          <p:nvPr/>
        </p:nvSpPr>
        <p:spPr>
          <a:xfrm>
            <a:off x="9606105" y="4613361"/>
            <a:ext cx="308241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.Brindha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.Veeradesika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IV -CSE(IoT)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B3118-198F-2FEC-9BBA-EC5786C2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31DA7CE5-229D-E2E7-ED69-83E556FC114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35683FF8-CC55-8350-157F-31295667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CDE33598-781D-EF62-C601-2A526E4B7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F8C6F7B8-6DB0-AA29-C77D-4625EF9A7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94BDA249-10D3-0EDD-4B98-714790BA1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C410BF97-3D2D-76BF-B6DA-2BEA360711A7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8D8F2D5D-0A3D-43DE-58F8-CF552D2CB783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CA49C68B-C6EB-3EDC-AE3F-9FB87E3B6F9F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AFDAF7C2-AD29-CDCB-0469-C81A6B476E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19E6EFDD-FA14-5092-F6CE-D4184933D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A4671358-D21C-2B75-8ECC-6B5378E51A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1107C8B3-4808-838F-BCC3-9F0A675F41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4C28A548-0DF3-6BCE-98F9-293982DD9E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A64EB5-C60D-5D62-513E-BF0E70916FC8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87323E-12A6-F9DB-93AB-1C074D182F1C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52EDA-D0BA-AFAD-FCBC-A6145EB1FF45}"/>
              </a:ext>
            </a:extLst>
          </p:cNvPr>
          <p:cNvSpPr txBox="1"/>
          <p:nvPr/>
        </p:nvSpPr>
        <p:spPr>
          <a:xfrm>
            <a:off x="1180235" y="1464784"/>
            <a:ext cx="103811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of Things (IoT) has brought intelligence and connectivity to everyday objects, improving convenience and efficiency. A smart sipper integrates IoT technology to automatically maintain the temperature of water using a Peltier module. The bottle can both cool and heat the water as needed and allows the user to monitor and control it via a mobile application using Wi-Fi and Bluetooth. This innovation ensures proper hydration with the desired temperature anytime, making it ideal for daily use and travel.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9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245D-97A0-873F-068F-4314293B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6B7D1128-CD37-08BF-996D-70248C499D1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FBE89334-DD06-D145-6FD5-38FC0F666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EB9FCBA1-680F-9973-F493-8BA71C2CE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EEBC0E17-A730-F88A-50A9-993DD05B4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9C429233-B67D-D568-0707-AF05AC0C0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6578B37E-32C6-4447-4720-3720544627AA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10DBCB6F-D42D-3FDA-6EA4-15DE4386C91A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41B6EE37-66F4-0B54-7A74-143A221E8083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A1533EBB-6A26-F995-9D2A-80F097344A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6F0D1E42-EB7F-372B-72E3-C94BDBE89E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AFCA8E23-A273-BA03-BCDA-61DD989180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81358B30-02FF-197C-D437-27E4B62E47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6400A5BD-EDB4-CB42-6DE5-D3BCB862E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DDC270-60AD-16EC-56D3-7C9D8A82B776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FBD871-D37C-7BE0-BEA4-1DD8215F8F58}"/>
              </a:ext>
            </a:extLst>
          </p:cNvPr>
          <p:cNvSpPr txBox="1"/>
          <p:nvPr/>
        </p:nvSpPr>
        <p:spPr>
          <a:xfrm>
            <a:off x="803133" y="1018265"/>
            <a:ext cx="7717599" cy="682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temperature data is uploaded to mobile app, allowing remote monitoring and control.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improve hydration convenience.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IoT-enabled Smart Sipper capable of automatically cooling or heating water based on user requirements.</a:t>
            </a:r>
          </a:p>
          <a:p>
            <a:pPr algn="ctr">
              <a:lnSpc>
                <a:spcPct val="150000"/>
              </a:lnSpc>
            </a:pP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person drinking water from a glass&#10;&#10;AI-generated content may be incorrect.">
            <a:extLst>
              <a:ext uri="{FF2B5EF4-FFF2-40B4-BE49-F238E27FC236}">
                <a16:creationId xmlns:a16="http://schemas.microsoft.com/office/drawing/2014/main" id="{E60AEBDC-4D2D-5E9B-6D76-10BE9AA855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461" y="2238364"/>
            <a:ext cx="2143125" cy="35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1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245D-97A0-873F-068F-4314293B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6B7D1128-CD37-08BF-996D-70248C499D1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FBE89334-DD06-D145-6FD5-38FC0F666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EB9FCBA1-680F-9973-F493-8BA71C2CE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EEBC0E17-A730-F88A-50A9-993DD05B4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9C429233-B67D-D568-0707-AF05AC0C0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6578B37E-32C6-4447-4720-3720544627AA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10DBCB6F-D42D-3FDA-6EA4-15DE4386C91A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41B6EE37-66F4-0B54-7A74-143A221E8083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A1533EBB-6A26-F995-9D2A-80F097344A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6F0D1E42-EB7F-372B-72E3-C94BDBE89E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AFCA8E23-A273-BA03-BCDA-61DD989180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81358B30-02FF-197C-D437-27E4B62E47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6400A5BD-EDB4-CB42-6DE5-D3BCB862E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DDC270-60AD-16EC-56D3-7C9D8A82B776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4FE163-F58C-BA61-7796-9DB33D23F15C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FBD871-D37C-7BE0-BEA4-1DD8215F8F58}"/>
              </a:ext>
            </a:extLst>
          </p:cNvPr>
          <p:cNvSpPr txBox="1"/>
          <p:nvPr/>
        </p:nvSpPr>
        <p:spPr>
          <a:xfrm>
            <a:off x="1072440" y="939940"/>
            <a:ext cx="10329146" cy="601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often struggle to maintain  drinking water at their desired temperature.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water bottles cannot automatically heat or cool water.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no real-time monitoring or remote control in normal sippers.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track temperature or control the sipper using a mobile device.</a:t>
            </a:r>
          </a:p>
          <a:p>
            <a:pPr algn="ctr">
              <a:lnSpc>
                <a:spcPct val="150000"/>
              </a:lnSpc>
            </a:pP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02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42BFA-8F0A-5CDB-7682-893B8663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6D2AC737-A852-DBEA-E23B-792FB1FD181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04FFF8D8-51C8-E899-7F5E-377116592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F6843CCA-9837-0922-80DF-20ED03E4F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C08D82BF-DD19-8382-78F7-A24E2425B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9436CDE0-0563-1D06-B389-6E3598BEF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17D3AE30-8AD0-3373-85AF-C3B5AB2DCEDD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DABE2D9E-B10E-5680-6E49-0CA0F7D941EA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02AC56F6-2F58-ECC1-2701-7B76C94B536F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D7F9561D-AC2A-F200-7F57-E538900992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208114F0-4DE1-A3AD-406B-18DF16ADF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7779AB7F-A7FC-9FD9-CF6F-01D9FCD413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18ADDF5B-8D4C-A449-CD6D-121F8C3CB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C9155751-7CEA-40E2-2710-338E91BEB4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EC938A-CDD1-A2AD-E6FE-4B8C9E7D191D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CBB733-1D68-32C3-41E3-F65D8CDAAE2F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8DB5A-526E-D159-277E-AD8BFD0E5E9E}"/>
              </a:ext>
            </a:extLst>
          </p:cNvPr>
          <p:cNvSpPr txBox="1"/>
          <p:nvPr/>
        </p:nvSpPr>
        <p:spPr>
          <a:xfrm>
            <a:off x="194904" y="987912"/>
            <a:ext cx="9006846" cy="7309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sipper that can  automatically heat or cool water 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real-time temperature using an IoT cloud platform.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remote control via mobile app.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user safety with multilayer insulation.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 portable, and user-friendly system.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Temperature Control Vector Icon 21067121 Vector Art at Vecteezy">
            <a:extLst>
              <a:ext uri="{FF2B5EF4-FFF2-40B4-BE49-F238E27FC236}">
                <a16:creationId xmlns:a16="http://schemas.microsoft.com/office/drawing/2014/main" id="{24590E83-04C8-2337-59E1-3F16F3A3D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624" y="1921789"/>
            <a:ext cx="2023156" cy="177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white symbol with a sound wave&#10;&#10;AI-generated content may be incorrect.">
            <a:extLst>
              <a:ext uri="{FF2B5EF4-FFF2-40B4-BE49-F238E27FC236}">
                <a16:creationId xmlns:a16="http://schemas.microsoft.com/office/drawing/2014/main" id="{2E4A44DD-29F2-A520-A338-77583A13F9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54" y="4320338"/>
            <a:ext cx="20478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69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8051A-D9CD-1677-4F81-E0146024F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629BE53B-4CA9-E6D8-116C-EE036416D63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1DB7EEFD-1C70-D29C-7E2E-EF9BE806A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7772D6FB-A6E8-C453-4B98-C406AF224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02AB3B84-95F2-E8B0-155C-F1D023283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A8122F08-D2AC-6BC5-08A5-BA1C25063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182C0EAB-3C34-4660-A80D-BD953FDA3647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2ACDCEB3-A46F-11FB-8F55-57908615742B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891A9140-6576-57DD-1DDE-9366959AF880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D0E0139C-B984-ED29-C44D-F3F1683C9A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A0B4FA49-4CF6-C0B1-52E3-9A7D447161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1EFC708F-8272-81F0-7BB7-A50194103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79064BFE-F082-418F-DD2E-A33A2735D3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6D4D82C7-52EE-5DE7-4FB6-03FA475575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4BB5F6-6DA4-0621-E098-F979E5B585CA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F2A6FB-79C9-2320-1C6A-B67042175E62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BA240-F73E-B914-EB72-4A5E16B69B4B}"/>
              </a:ext>
            </a:extLst>
          </p:cNvPr>
          <p:cNvSpPr txBox="1"/>
          <p:nvPr/>
        </p:nvSpPr>
        <p:spPr>
          <a:xfrm>
            <a:off x="350478" y="1014083"/>
            <a:ext cx="1135508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895FA6-B915-42B5-D0A3-039F5D314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745622"/>
              </p:ext>
            </p:extLst>
          </p:nvPr>
        </p:nvGraphicFramePr>
        <p:xfrm>
          <a:off x="1913082" y="1859355"/>
          <a:ext cx="8128000" cy="4431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248740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6923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</a:t>
                      </a: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I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914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adjust water temperature based on  user performance.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sipper with Peltier module for heating and cooling.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782584"/>
                  </a:ext>
                </a:extLst>
              </a:tr>
              <a:tr h="132824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temperature display.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sensor for continuous monitoring.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30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effort is required to change water temperature.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upload to Adafruit IO.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279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smart features such as alerts or remote access.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ON/OFF control through IoT dashboard.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43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 cleaning smart water bottle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microcontroller for control and communication.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48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58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C017-93B3-948C-1020-07D84EEB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1C67C138-45AC-8ACA-77D7-C2F276BC5C7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95BA73AF-3C4B-2425-3B83-40CAFA787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E3DCDABD-8167-7938-C4BC-FAF3A1F7B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DF25D9C6-28CF-8171-D63D-17FBB1E70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7B280327-2E38-7D68-BEBA-F01A3652D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5A0E3725-2CBC-9733-CCD2-7C18E006AFF6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3D9903BF-B68D-F71E-8F51-E4772FADDB60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99B2BD10-DE65-2532-4707-06FBDB3FC815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9A06086B-2DC6-2534-1995-8B2AEE9EF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799C817B-02A9-1BBD-E13C-51D0CD895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C62D2E85-062E-06D3-1808-26BA3C954A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C6760ED6-E764-BC40-BB36-E24A55630E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85888C05-0EE6-69AB-A6B5-3FC17FF7D6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B86248-46D2-2A25-FB6B-C6B801BF263F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25F438-44BF-6506-92D3-E7DFDA70DA9E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5F672-640E-A0B2-9F58-27028556C547}"/>
              </a:ext>
            </a:extLst>
          </p:cNvPr>
          <p:cNvSpPr txBox="1"/>
          <p:nvPr/>
        </p:nvSpPr>
        <p:spPr>
          <a:xfrm>
            <a:off x="1106491" y="1297681"/>
            <a:ext cx="997901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Module: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water temperature.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Module: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microcontroller logic to activate heating or cooling.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Peltier Module: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cooling operation.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Ceramic cartage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Performs hot operation.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Module: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Wi-Fi/Bluetooth connectivity to send/receive data 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Module: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power to all components.</a:t>
            </a:r>
          </a:p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691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2E1B-5A28-701D-CBBE-031E31A2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3ED71DE7-BE91-9780-CFEF-5F5C86B6597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19BF41D6-581C-CAF8-B42E-81C3DC582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9E21914F-AB4A-630F-5EEA-D5F00D91F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6F26A8EC-3C7F-6E4A-8F55-F28C06243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80BA4BB4-E1DC-8434-EA3C-FBBD3DFF6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CA65DFE6-37BA-5D20-1F93-055DEB17C360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87E3B321-B301-1FC8-4B41-06DCDF423D97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D28659C0-3416-44CF-D68C-A8F001979B20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5F361394-6EFF-0975-E442-F51A231AB6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E6825FC1-1FDD-090E-8F8E-BDD63F98D0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241A01A1-2339-7DD1-7DFB-8742CF6C44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73AC506D-C7DE-E671-0516-5652766D7A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0E7CCD99-FEB9-9AF3-FFC0-CDB9C8095F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771A18-430F-2D28-5C76-5C7A34E51DFD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1A97F2-C814-64FF-ED7B-3D9ED2D6EA89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7E13F-9F38-8A80-420F-75E3BBA677B3}"/>
              </a:ext>
            </a:extLst>
          </p:cNvPr>
          <p:cNvSpPr txBox="1"/>
          <p:nvPr/>
        </p:nvSpPr>
        <p:spPr>
          <a:xfrm>
            <a:off x="294469" y="1224653"/>
            <a:ext cx="113550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3">
            <a:extLst>
              <a:ext uri="{FF2B5EF4-FFF2-40B4-BE49-F238E27FC236}">
                <a16:creationId xmlns:a16="http://schemas.microsoft.com/office/drawing/2014/main" id="{C5A6C347-BD6B-F734-AC78-559C73B1F9B7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136491" y="2054942"/>
            <a:ext cx="5466735" cy="382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3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B7AC6-6DB6-EC89-3B55-C5C65C6A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DABCC9BE-2161-5D41-36C6-14A81077355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4394BF0E-5007-2DBE-1E69-8929ABB72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1AF38869-47D8-DAA7-DC31-30A0BECBA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1A4648F8-1B8D-C04E-7C67-551A8470A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4D874639-13C5-8119-E3A9-9180F753C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3656B97E-AB57-866C-505D-9501AB8EAD52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FF6F98DE-E4FA-0992-BEA8-B5AFE1552544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A3ACA31A-F0C3-3204-65FB-D94E5BD876CC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726B4AFA-602E-51F0-DC81-CD6E970A9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938CD7AF-6F2A-2E08-3285-FBCF3C9D25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2CF9F2DA-3A64-4E25-4607-DA8CBAE819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0D2FE7FA-6602-E1AE-9DE7-AC315CE917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BD9CD943-E340-259E-A368-05CDA83BA4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DE8647-C5DF-F0AC-F86A-448527E03D43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9A0232-E70E-4EF4-8B0E-8B0D1EBEF615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BFAC3-7121-0472-0A93-A0897448C920}"/>
              </a:ext>
            </a:extLst>
          </p:cNvPr>
          <p:cNvSpPr txBox="1"/>
          <p:nvPr/>
        </p:nvSpPr>
        <p:spPr>
          <a:xfrm>
            <a:off x="350478" y="961292"/>
            <a:ext cx="113550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DF8025-D312-7D04-A704-F88F543FD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6851" y="1593962"/>
            <a:ext cx="6578567" cy="478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0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A3A9-541B-F33C-A883-C816C6D1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395F24BB-12F5-0032-C9DB-81A1AA0F867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93A09545-521C-CD99-1C64-10D00DB1A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74EAEAEF-4E46-B756-7064-25A232A8C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38C53B6D-7514-DFF7-BC90-E5DD59B08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384A40EE-104B-2D35-65E8-B0D6B3B61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302BE83F-3BF6-716E-3EA7-CBD2DCD48F4C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19E52E09-5B88-0495-AA22-DCEC75D49EE7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1FA25436-2D34-4AE8-9BCC-8CD7BAF98C1A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280A5CCE-4E5A-94EC-1068-DF63E1C951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24B43F2A-26E3-485D-EC86-7ABF8D9B5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293C062B-59F9-C6E9-2273-27DC71121C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52AF1551-9E63-E5C3-D084-CB15CD201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3BE8FA17-EBC7-F224-DE44-299528B855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544739-B7E8-8441-FAC8-92F7307DC28B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993AA1-BA3F-8BE7-13E1-FEE04538D356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65135-9AAB-8855-959F-D383989CF356}"/>
              </a:ext>
            </a:extLst>
          </p:cNvPr>
          <p:cNvSpPr txBox="1"/>
          <p:nvPr/>
        </p:nvSpPr>
        <p:spPr>
          <a:xfrm>
            <a:off x="307975" y="1072715"/>
            <a:ext cx="113550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 descr="A diagram of a device&#10;&#10;AI-generated content may be incorrect.">
            <a:extLst>
              <a:ext uri="{FF2B5EF4-FFF2-40B4-BE49-F238E27FC236}">
                <a16:creationId xmlns:a16="http://schemas.microsoft.com/office/drawing/2014/main" id="{E16B302B-756F-BB88-BC7E-07016528B6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084" y="1859355"/>
            <a:ext cx="7924800" cy="432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40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2E1B-5A28-701D-CBBE-031E31A2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3ED71DE7-BE91-9780-CFEF-5F5C86B6597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19BF41D6-581C-CAF8-B42E-81C3DC582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9E21914F-AB4A-630F-5EEA-D5F00D91F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6F26A8EC-3C7F-6E4A-8F55-F28C06243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80BA4BB4-E1DC-8434-EA3C-FBBD3DFF6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CA65DFE6-37BA-5D20-1F93-055DEB17C360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87E3B321-B301-1FC8-4B41-06DCDF423D97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D28659C0-3416-44CF-D68C-A8F001979B20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5F361394-6EFF-0975-E442-F51A231AB6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E6825FC1-1FDD-090E-8F8E-BDD63F98D0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241A01A1-2339-7DD1-7DFB-8742CF6C44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73AC506D-C7DE-E671-0516-5652766D7A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0E7CCD99-FEB9-9AF3-FFC0-CDB9C8095F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771A18-430F-2D28-5C76-5C7A34E51DFD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1A97F2-C814-64FF-ED7B-3D9ED2D6EA89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7E13F-9F38-8A80-420F-75E3BBA677B3}"/>
              </a:ext>
            </a:extLst>
          </p:cNvPr>
          <p:cNvSpPr txBox="1"/>
          <p:nvPr/>
        </p:nvSpPr>
        <p:spPr>
          <a:xfrm>
            <a:off x="294469" y="1224653"/>
            <a:ext cx="11355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4BF9E0-4744-6A00-82BC-0ADCF66F9E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808" y="1921789"/>
            <a:ext cx="5372456" cy="44656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118CF-EB75-1B52-BDAC-1B99AB4A71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273" y="1921789"/>
            <a:ext cx="3752590" cy="434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60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37E15-68FD-768A-7AD2-F95BA34C5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DBF72382-CAAD-077C-2721-72306FF9DC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989DFB03-BC7D-110E-5A06-AEEE34B49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E1890715-7C41-2D80-C2BC-7DDF5A9E6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E6DC8356-B4C4-4600-4A92-E05A34A96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0D2B754D-98A2-7726-AABB-EC4E7E5B2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51B445DD-F76F-F695-6C25-4C4FFEF71659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61A8F885-69C1-36A0-5BBC-3A1D993A0420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D9CD75DF-046A-C3F7-A836-8EBD963F8D1E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BD167660-D6F3-075B-143D-10CBFE97DE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5EB58180-ED4B-A0D7-D6B9-3040C3FD2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715A56FB-744C-8CD8-C9CD-1630F1E321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ECD7299D-464D-2165-94A4-B58537C2A3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93509F83-82AF-9FF9-DB59-F3298054A5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2AEB12-BA7E-70BE-5D50-8FFEB416BD92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19FDA7-7C36-3426-80C0-EDF68708D0A9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89696-4801-826B-E46B-45347B152108}"/>
              </a:ext>
            </a:extLst>
          </p:cNvPr>
          <p:cNvSpPr txBox="1"/>
          <p:nvPr/>
        </p:nvSpPr>
        <p:spPr>
          <a:xfrm>
            <a:off x="206344" y="1313095"/>
            <a:ext cx="113550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472AE5-65D8-7E9E-D9A4-4EFDF0426FDC}"/>
              </a:ext>
            </a:extLst>
          </p:cNvPr>
          <p:cNvGraphicFramePr>
            <a:graphicFrameLocks noGrp="1"/>
          </p:cNvGraphicFramePr>
          <p:nvPr/>
        </p:nvGraphicFramePr>
        <p:xfrm>
          <a:off x="1723456" y="2442514"/>
          <a:ext cx="874508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272">
                  <a:extLst>
                    <a:ext uri="{9D8B030D-6E8A-4147-A177-3AD203B41FA5}">
                      <a16:colId xmlns:a16="http://schemas.microsoft.com/office/drawing/2014/main" val="3756942644"/>
                    </a:ext>
                  </a:extLst>
                </a:gridCol>
                <a:gridCol w="2186272">
                  <a:extLst>
                    <a:ext uri="{9D8B030D-6E8A-4147-A177-3AD203B41FA5}">
                      <a16:colId xmlns:a16="http://schemas.microsoft.com/office/drawing/2014/main" val="854836213"/>
                    </a:ext>
                  </a:extLst>
                </a:gridCol>
                <a:gridCol w="2186272">
                  <a:extLst>
                    <a:ext uri="{9D8B030D-6E8A-4147-A177-3AD203B41FA5}">
                      <a16:colId xmlns:a16="http://schemas.microsoft.com/office/drawing/2014/main" val="3040198592"/>
                    </a:ext>
                  </a:extLst>
                </a:gridCol>
                <a:gridCol w="2186272">
                  <a:extLst>
                    <a:ext uri="{9D8B030D-6E8A-4147-A177-3AD203B41FA5}">
                      <a16:colId xmlns:a16="http://schemas.microsoft.com/office/drawing/2014/main" val="1662796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Initial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Final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Time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79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Cooling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30°C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20°C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10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59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Heating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25°C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40°C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3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56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436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160FC-F76F-2DA7-4BF8-31F95126B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7A756315-CE6B-C8BD-D374-C16888ACFBE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8BA1732A-65D2-3DD3-CD9B-0709AE4B1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7F6E513B-DE99-DE7D-2277-55F723147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BF0EC0DC-81B7-F1A9-25F2-B1E6A4D34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E2EFD503-A168-2D58-29C9-C5CA0010F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7658457B-5F9B-F6F2-F4D4-0A7D8D188AA5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3BC3EF01-19DA-E1EA-8C60-647C24E57C47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5B0C8A10-15B3-112C-649F-34A25A29CE8B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C61AED74-416B-7B44-FC49-DC1B2ADB03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1672971A-9BA5-AE22-3969-28670F8CC9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C0EE782B-6518-7E36-06D7-FCDFCD50D4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3EED293D-C67A-CA24-C6E9-BFD3D23B52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34B7D8CD-6CC0-DD38-02ED-4F24C2E285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0BAD00-A2CD-20C1-8A5F-CB80CE914651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EA302D-393A-C77C-46AC-BE353266CE3B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015DD-C285-8C8F-3752-531405D03614}"/>
              </a:ext>
            </a:extLst>
          </p:cNvPr>
          <p:cNvSpPr txBox="1"/>
          <p:nvPr/>
        </p:nvSpPr>
        <p:spPr>
          <a:xfrm>
            <a:off x="1180235" y="1464784"/>
            <a:ext cx="103811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Scenarios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ON Test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Monitoring Test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Cooling/Heating Function Test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Connectivity Test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08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B3E56-9E31-7B60-A5DD-FDB57A05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740C42E1-EC93-3251-BB56-EE9D7B6442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2482DC36-8294-336A-9C07-19400B733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08F7AE41-A1C0-C62B-B9B3-6BDC0644E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F3B95406-8D71-87A6-7B14-95335E16C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EB030D67-60F7-876E-F934-F8201F428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B9420904-A3AA-EF72-BD1F-3BDFF465C24F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CA31FD6E-FE0C-44FC-910A-6EE594F4591C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80E7E73A-BF1A-CF1D-C173-24CB0C234490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15346772-8C61-694B-06C7-2691EF659F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3A77CF2C-4CF4-7539-475A-359A472D49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78C5D22C-AAF6-5E6E-F497-A058EB0B0E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D02622C2-CE34-E2E4-967E-4A497A403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0AF15984-2583-BC07-966A-B0C63E79A3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B687F8-6B51-05D9-FB40-8ABF8AA4F1E2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5CC3A8-4231-42F4-578B-6D3E131F8F06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138EC-D05C-4A66-02CB-496B2676593E}"/>
              </a:ext>
            </a:extLst>
          </p:cNvPr>
          <p:cNvSpPr txBox="1"/>
          <p:nvPr/>
        </p:nvSpPr>
        <p:spPr>
          <a:xfrm>
            <a:off x="350478" y="1656387"/>
            <a:ext cx="113550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 Work with Timeline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percent work completed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25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D0740-8967-1C20-C9ED-3E63A170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A37ECBFD-2A07-7193-01F2-467F8AE79EA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0651D387-BD1F-09FD-403C-38E3C5F34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CD8EA7B1-B80F-5BD9-C3D9-927164772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B8B10699-085E-CAA2-4E16-EEC373D65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E57AC63F-9E60-A5C1-F26E-367C33A6D8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248F2C9B-6725-CBFF-3E0F-669671681288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CAD76608-4B7A-08C6-0F33-94165C3514EE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219DF238-903B-B7C5-532E-3E269E6D5C1B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7417ACE6-409E-509B-6E3F-0EBCCFC6C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622C8AB6-772C-8876-23DC-42F60F6BB4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786A12AA-C35D-8864-5D08-2AF454424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AF1693EC-BAFF-3008-BBCA-2257A54FCE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AD88F6C3-E6F9-D33D-C870-05AB6AD2C9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3FA8CD-1717-2FB8-EB4F-9EC4B9917017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A8D6FE-FEE2-DFBB-53A1-B0E9D0E3994F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CA812-D3EC-D745-F6A6-28B7A72C1A7B}"/>
              </a:ext>
            </a:extLst>
          </p:cNvPr>
          <p:cNvSpPr txBox="1"/>
          <p:nvPr/>
        </p:nvSpPr>
        <p:spPr>
          <a:xfrm>
            <a:off x="294469" y="1224653"/>
            <a:ext cx="1135508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Applications</a:t>
            </a:r>
          </a:p>
          <a:p>
            <a:pPr algn="ctr"/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AA7FC-3A00-8BF0-D1BC-46153C62FF22}"/>
              </a:ext>
            </a:extLst>
          </p:cNvPr>
          <p:cNvSpPr txBox="1"/>
          <p:nvPr/>
        </p:nvSpPr>
        <p:spPr>
          <a:xfrm>
            <a:off x="542441" y="2532962"/>
            <a:ext cx="5227265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water hot or cold as required.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control using a mobile app.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automatically, no manual effort needed.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energy by operating only when necessary.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user-friendly for daily use.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91AD5-3A7D-5D32-9D2C-9D24AC802793}"/>
              </a:ext>
            </a:extLst>
          </p:cNvPr>
          <p:cNvSpPr txBox="1"/>
          <p:nvPr/>
        </p:nvSpPr>
        <p:spPr>
          <a:xfrm>
            <a:off x="6189113" y="2215320"/>
            <a:ext cx="5708418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daily water intake to maintain hydration.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alerts to remind users to drink water.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fitness users monitor hydration levels.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elderly people in remembering to drink water.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focus and productivity by maintaining hydration.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176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9F9C4-8CA7-C5D9-C059-D0DC8983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6ED609F3-655C-B159-667F-0E6C26E94E4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5C5E3551-B8AE-4AFA-CDFB-0885CB033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EE73270D-8C71-0422-E5B9-08870F191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CEC498EE-3390-CBB4-DF24-015BBCC7A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2645F368-E28A-B190-BF28-A66406AE2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B074301C-58C6-BCBA-7751-30421EDFE669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3110ACC8-B49E-989A-D757-E63750B50D24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E7A1D68A-E3ED-0787-22C8-4CED0A8D5346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85C58B1B-37C1-B4CC-9879-DBA0585BCF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B2754483-8302-7E82-0FFF-1BE5772915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285A114C-DDF7-3293-E935-1537B3A28F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669CCE79-67DB-ED5A-4E99-9AEE3306F3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61A9E6DA-7C97-71A8-5BA4-98587C025C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9FBFA7-AED9-9268-0527-7B4E5231D93F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064EF0-5675-68D4-7F43-A2B5BABDFB5A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AD2A1-4C9F-FC5F-C270-AF9BFD3C1EC6}"/>
              </a:ext>
            </a:extLst>
          </p:cNvPr>
          <p:cNvSpPr txBox="1"/>
          <p:nvPr/>
        </p:nvSpPr>
        <p:spPr>
          <a:xfrm>
            <a:off x="2772697" y="1464784"/>
            <a:ext cx="8788736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Sipper maintains desired temperature automatically.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control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IoT and embedded integration for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lifestyle devices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cartoon of a child drinking from a glass&#10;&#10;AI-generated content may be incorrect.">
            <a:extLst>
              <a:ext uri="{FF2B5EF4-FFF2-40B4-BE49-F238E27FC236}">
                <a16:creationId xmlns:a16="http://schemas.microsoft.com/office/drawing/2014/main" id="{27D409BA-C95D-D865-643A-FB957362569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34" y="1898542"/>
            <a:ext cx="2552629" cy="396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31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6C14-096F-FFAD-4DF6-A24A6EB4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D56AA03F-DD1B-0E1E-11EB-273B692689D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23366396-16F2-3370-8B68-BC2D91034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E4794819-D087-D210-EF90-C9BD0767A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51096F17-2923-E2C2-DFFF-7928FE223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34D6F9FE-220B-9FE7-0F07-49DBC0536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E165D2AA-2484-780A-0DFB-A85669396208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924663B1-260D-D37F-C554-DFC732567EBD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EBF6E4A8-E4E3-B4F8-5126-C22DDB11D408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2067A3A9-D664-B715-8FDA-A05031AF73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CD447D19-1F9C-5367-0797-220E3AB99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60410D67-778E-C88D-179A-8A007C9917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0466E9CA-3282-21C6-01BE-51826FC62C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EBCAF025-4D89-A3D2-683E-D65FD442FE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07417A-3424-241E-B9E5-E9D600F74979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2CB25D-16E8-7942-C6A8-912C64D778CC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CB812-4021-E38D-8C01-DCC7E05D4407}"/>
              </a:ext>
            </a:extLst>
          </p:cNvPr>
          <p:cNvSpPr txBox="1"/>
          <p:nvPr/>
        </p:nvSpPr>
        <p:spPr>
          <a:xfrm>
            <a:off x="294470" y="1224653"/>
            <a:ext cx="759100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hydration tracking and water intake reminders.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control using Alexa or Google Assistant.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Solar-based power system for energy efficiency.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compact design with rechargeable battery.</a:t>
            </a:r>
          </a:p>
          <a:p>
            <a:pPr algn="just">
              <a:lnSpc>
                <a:spcPct val="150000"/>
              </a:lnSpc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group of logos with text&#10;&#10;AI-generated content may be incorrect.">
            <a:extLst>
              <a:ext uri="{FF2B5EF4-FFF2-40B4-BE49-F238E27FC236}">
                <a16:creationId xmlns:a16="http://schemas.microsoft.com/office/drawing/2014/main" id="{C8C4017C-30D2-CD9D-66F5-A9523381B7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944" y="1815487"/>
            <a:ext cx="3809821" cy="414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70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D72E-14A1-C9CA-AF16-4B039897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>
            <a:extLst>
              <a:ext uri="{FF2B5EF4-FFF2-40B4-BE49-F238E27FC236}">
                <a16:creationId xmlns:a16="http://schemas.microsoft.com/office/drawing/2014/main" id="{DB9E85D7-EEDC-9E1C-83C7-F648AAA224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7291" y="127914"/>
            <a:ext cx="4594579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PAAVAI ENGINEERING COLLEGE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 | Approved By AICTE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039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>
                <a:ln>
                  <a:noFill/>
                </a:ln>
                <a:solidFill>
                  <a:srgbClr val="9602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Anna University, Chennai | Accredited By NBA &amp; NAAC(UGC) With 'A' Grade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201" name="Picture 2" descr="Paavai Engineering College">
            <a:hlinkClick r:id="rId2"/>
            <a:extLst>
              <a:ext uri="{FF2B5EF4-FFF2-40B4-BE49-F238E27FC236}">
                <a16:creationId xmlns:a16="http://schemas.microsoft.com/office/drawing/2014/main" id="{874707CF-B49B-71CD-D9AE-3BD718355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78" y="160897"/>
            <a:ext cx="721962" cy="687201"/>
          </a:xfrm>
          <a:prstGeom prst="rect">
            <a:avLst/>
          </a:prstGeom>
          <a:noFill/>
        </p:spPr>
      </p:pic>
      <p:pic>
        <p:nvPicPr>
          <p:cNvPr id="2097202" name="Picture 6">
            <a:extLst>
              <a:ext uri="{FF2B5EF4-FFF2-40B4-BE49-F238E27FC236}">
                <a16:creationId xmlns:a16="http://schemas.microsoft.com/office/drawing/2014/main" id="{2416D93C-BA53-193A-BB23-77D79C4DE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5053"/>
            <a:ext cx="12192000" cy="211523"/>
          </a:xfrm>
          <a:prstGeom prst="rect">
            <a:avLst/>
          </a:prstGeom>
        </p:spPr>
      </p:pic>
      <p:pic>
        <p:nvPicPr>
          <p:cNvPr id="2097203" name="Picture 7">
            <a:extLst>
              <a:ext uri="{FF2B5EF4-FFF2-40B4-BE49-F238E27FC236}">
                <a16:creationId xmlns:a16="http://schemas.microsoft.com/office/drawing/2014/main" id="{985D6711-FCC8-0ABC-06A8-AF272D864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03110"/>
            <a:ext cx="12192000" cy="169605"/>
          </a:xfrm>
          <a:prstGeom prst="rect">
            <a:avLst/>
          </a:prstGeom>
        </p:spPr>
      </p:pic>
      <p:pic>
        <p:nvPicPr>
          <p:cNvPr id="2097204" name="Picture 10">
            <a:extLst>
              <a:ext uri="{FF2B5EF4-FFF2-40B4-BE49-F238E27FC236}">
                <a16:creationId xmlns:a16="http://schemas.microsoft.com/office/drawing/2014/main" id="{91E9C30B-23AF-6BAC-C005-FF3194E5D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26578"/>
            <a:ext cx="12192000" cy="186241"/>
          </a:xfrm>
          <a:prstGeom prst="rect">
            <a:avLst/>
          </a:prstGeom>
        </p:spPr>
      </p:pic>
      <p:sp>
        <p:nvSpPr>
          <p:cNvPr id="1048633" name="TextBox 1">
            <a:extLst>
              <a:ext uri="{FF2B5EF4-FFF2-40B4-BE49-F238E27FC236}">
                <a16:creationId xmlns:a16="http://schemas.microsoft.com/office/drawing/2014/main" id="{CD21A07E-50A5-30EE-2A8B-6BF26FC40387}"/>
              </a:ext>
            </a:extLst>
          </p:cNvPr>
          <p:cNvSpPr txBox="1"/>
          <p:nvPr/>
        </p:nvSpPr>
        <p:spPr>
          <a:xfrm>
            <a:off x="7766546" y="5743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|</a:t>
            </a:r>
          </a:p>
        </p:txBody>
      </p:sp>
      <p:sp>
        <p:nvSpPr>
          <p:cNvPr id="1048634" name="TextBox 2">
            <a:extLst>
              <a:ext uri="{FF2B5EF4-FFF2-40B4-BE49-F238E27FC236}">
                <a16:creationId xmlns:a16="http://schemas.microsoft.com/office/drawing/2014/main" id="{8A26F3A7-12C2-CA7C-AD74-E98C6566E576}"/>
              </a:ext>
            </a:extLst>
          </p:cNvPr>
          <p:cNvSpPr txBox="1"/>
          <p:nvPr/>
        </p:nvSpPr>
        <p:spPr>
          <a:xfrm>
            <a:off x="8520732" y="308812"/>
            <a:ext cx="30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CSE(IoT)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9" name="Group 23">
            <a:extLst>
              <a:ext uri="{FF2B5EF4-FFF2-40B4-BE49-F238E27FC236}">
                <a16:creationId xmlns:a16="http://schemas.microsoft.com/office/drawing/2014/main" id="{99743752-8A5A-E348-2383-F9C8DA6C3941}"/>
              </a:ext>
            </a:extLst>
          </p:cNvPr>
          <p:cNvGrpSpPr/>
          <p:nvPr/>
        </p:nvGrpSpPr>
        <p:grpSpPr>
          <a:xfrm>
            <a:off x="6096000" y="167980"/>
            <a:ext cx="1586720" cy="643145"/>
            <a:chOff x="8828617" y="457004"/>
            <a:chExt cx="2717388" cy="1091391"/>
          </a:xfrm>
        </p:grpSpPr>
        <p:pic>
          <p:nvPicPr>
            <p:cNvPr id="2097205" name="Picture 5">
              <a:extLst>
                <a:ext uri="{FF2B5EF4-FFF2-40B4-BE49-F238E27FC236}">
                  <a16:creationId xmlns:a16="http://schemas.microsoft.com/office/drawing/2014/main" id="{3BD62852-BB19-6D82-196D-8AB12660CC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r="63522" b="1064"/>
            <a:stretch>
              <a:fillRect/>
            </a:stretch>
          </p:blipFill>
          <p:spPr bwMode="auto">
            <a:xfrm>
              <a:off x="8828617" y="465393"/>
              <a:ext cx="1270725" cy="101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206" name="Picture 5">
              <a:extLst>
                <a:ext uri="{FF2B5EF4-FFF2-40B4-BE49-F238E27FC236}">
                  <a16:creationId xmlns:a16="http://schemas.microsoft.com/office/drawing/2014/main" id="{73425D89-8945-ACFE-654D-F29FC7BDFA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 l="66037" b="4256"/>
            <a:stretch>
              <a:fillRect/>
            </a:stretch>
          </p:blipFill>
          <p:spPr bwMode="auto">
            <a:xfrm>
              <a:off x="10236336" y="457004"/>
              <a:ext cx="1309669" cy="1091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8" name="AutoShape 2" descr="Santiago Ramón y Cajal.">
            <a:extLst>
              <a:ext uri="{FF2B5EF4-FFF2-40B4-BE49-F238E27FC236}">
                <a16:creationId xmlns:a16="http://schemas.microsoft.com/office/drawing/2014/main" id="{B66A7F1D-7B7E-037A-5C7E-C2B6BEC1FA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Santiago Ramón y Cajal.">
            <a:extLst>
              <a:ext uri="{FF2B5EF4-FFF2-40B4-BE49-F238E27FC236}">
                <a16:creationId xmlns:a16="http://schemas.microsoft.com/office/drawing/2014/main" id="{BFF3BB70-4CB6-60BB-FEC9-1A8053278D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Santiago Ramón y Cajal.">
            <a:extLst>
              <a:ext uri="{FF2B5EF4-FFF2-40B4-BE49-F238E27FC236}">
                <a16:creationId xmlns:a16="http://schemas.microsoft.com/office/drawing/2014/main" id="{21BCC699-C195-0590-3CEB-547F083D36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ED027A-5D9F-D944-F52D-85427C0A8C61}"/>
              </a:ext>
            </a:extLst>
          </p:cNvPr>
          <p:cNvSpPr/>
          <p:nvPr/>
        </p:nvSpPr>
        <p:spPr>
          <a:xfrm>
            <a:off x="790414" y="1534332"/>
            <a:ext cx="6307810" cy="774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151F58-AA6F-34D0-6B95-34116037D1E3}"/>
              </a:ext>
            </a:extLst>
          </p:cNvPr>
          <p:cNvSpPr/>
          <p:nvPr/>
        </p:nvSpPr>
        <p:spPr>
          <a:xfrm>
            <a:off x="542441" y="4959458"/>
            <a:ext cx="10259878" cy="1131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A33C1-E7F9-D5CF-3E99-1E1BBC225BF8}"/>
              </a:ext>
            </a:extLst>
          </p:cNvPr>
          <p:cNvSpPr txBox="1"/>
          <p:nvPr/>
        </p:nvSpPr>
        <p:spPr>
          <a:xfrm>
            <a:off x="542441" y="3126928"/>
            <a:ext cx="113550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808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1263</Words>
  <Application>Microsoft Office PowerPoint</Application>
  <PresentationFormat>Widescreen</PresentationFormat>
  <Paragraphs>213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Srinivasan G</dc:creator>
  <cp:lastModifiedBy>Veeradesika N</cp:lastModifiedBy>
  <cp:revision>5</cp:revision>
  <dcterms:created xsi:type="dcterms:W3CDTF">2026-01-22T11:57:25Z</dcterms:created>
  <dcterms:modified xsi:type="dcterms:W3CDTF">2026-04-28T03:13:50Z</dcterms:modified>
</cp:coreProperties>
</file>